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notesSlides/notesSlide11.xml" ContentType="application/vnd.openxmlformats-officedocument.presentationml.notesSlide+xml"/>
  <Override PartName="/ppt/ink/ink13.xml" ContentType="application/inkml+xml"/>
  <Override PartName="/ppt/notesSlides/notesSlide12.xml" ContentType="application/vnd.openxmlformats-officedocument.presentationml.notesSlide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ppt/notesSlides/notesSlide14.xml" ContentType="application/vnd.openxmlformats-officedocument.presentationml.notesSlide+xml"/>
  <Override PartName="/ppt/ink/ink16.xml" ContentType="application/inkml+xml"/>
  <Override PartName="/ppt/notesSlides/notesSlide15.xml" ContentType="application/vnd.openxmlformats-officedocument.presentationml.notesSlide+xml"/>
  <Override PartName="/ppt/ink/ink17.xml" ContentType="application/inkml+xml"/>
  <Override PartName="/ppt/notesSlides/notesSlide16.xml" ContentType="application/vnd.openxmlformats-officedocument.presentationml.notesSlide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60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6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77585-E5B5-4CC9-AB53-FA87BBD2A3FC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BEC9E-7EA7-4416-A9C6-0481865A75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106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8:1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8C9E8-E6E2-480E-AB61-CB3A2DE26104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2FA04-DA32-494E-A873-B3F95CA269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81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45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65A83-B12E-6891-CB46-8FD4A1D9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930AFC-2C0B-833C-09EB-9E65B665E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230F1C-0579-92D7-258C-4FACC44E6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8CD0E0-F006-8EA3-8DC9-0B4E6F47B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420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0500-E017-EAFB-6253-0D3CF0CB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010B12-4D4E-0588-F7FF-198FA372D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117CC7-E351-A9CD-4100-21999B5D6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26A435-4258-875A-BF51-5A6C9EC36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93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55E3-2C63-73FF-148F-ECFFE75F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F7F6B0-4286-86C2-B193-2655A1F3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EFAB26-1793-670E-FF71-0B25E995D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8B1280-FD7E-BC9E-D57B-1DB0D8589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476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4F05-2972-B701-B367-5B612BB8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34C686-6D72-0C47-0357-937AB398D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532484B-A2FB-EC3B-071A-847A199E1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44C290-A930-CB19-0A5D-9EEAF488B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5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9465-FE1D-156E-44F3-B2D7D9E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367DCD-3C47-D2AD-83C4-0EFC250D9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B387CD-44F0-0410-27B0-2DF081DCA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C704DA-BD8C-E765-2AFE-B05B4D447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392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C979E-3106-53AB-342C-EBB8411E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9740FC-4A36-EDBD-E624-834E128D3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A43864-FFB2-E270-1CFC-F76A62BEF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4B7AE8-55C9-D56C-584F-1C21DB017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033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CB95-CC61-2094-F87D-EF07D1C2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3CBB1C-3611-D825-5C89-ABA049202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22F386E-6BF7-2FBE-4371-6C264BD72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BF548C-5F17-DDFD-F51B-50BFDBA8A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877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7CE-18D0-5A98-BB47-24AD4F25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C461F6-6E11-E55E-3F24-79830B4B2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32C8C9-28B9-EA15-0C8B-BE832F869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11192D-F848-64DD-446F-92C6CE44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386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8AA5-26A1-A12C-14FC-35DF4C79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EE0E4E3-316D-9B37-93DF-F6FAB5093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DDF461-AB7D-F888-6E8A-341BCA2B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81203B-CC51-8B22-B0DA-074D81765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505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71BC-2EA5-16AA-D09E-B4684B13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3451211-1C50-FB45-8F83-803803CE2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C1FB3B-75CF-9250-AD13-434B42D3C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F82C57-4F46-8266-8EFA-95C12264C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990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0DE4-B406-D89E-8204-79F483FE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67935D-9B6A-F101-9A91-5ADBF82BF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ED43BC-6C24-6132-B20A-D6C29F828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072C7F-DBB1-866E-6A27-D262B54A6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88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C4C5-8A3C-FBF0-2C66-FC05230A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2D94A1-ACC5-39C8-D7B1-92B6FF568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42FCAF-BD64-0759-1E2A-98680675C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B273EB-89BC-FAEA-468F-4849E56AE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061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06278-ABEE-D44C-95B4-AD2983CB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4B900CD-8FA5-F68D-ACD4-638BEBDC2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F3FA20-5BBE-00EE-6C5A-C05490B81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1E59A0-EDA5-316B-9DE4-3AB6DC4E4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015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87AA-77A4-C7B0-F999-3BD9F7B0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940FE7-3FF2-B864-AE3F-D30A89880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383365-D799-5137-9D90-EB69AA552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728D3-38AA-0218-DBDC-FFCBB70DE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494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02F0-5DB5-AE5A-6ACF-1CA7A6FE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799DB1-26FB-354D-8439-EBB66388B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818BCE-DFC1-6426-6F95-FC1FF8886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A998F4-EB13-4246-FA65-B5FAD1001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2FA04-DA32-494E-A873-B3F95CA269F6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10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71168-B828-9B4D-9AD3-094AC78F4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BA0526-6C0D-4F43-9A34-CE6AA19D6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520A38-2DDC-9442-B378-F278CBFC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9DCBDA-EFB7-314F-B7CF-7CA44B61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2CBE7-4DA2-5141-BCAD-104D88DC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92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73705-B078-2847-A609-6F3294A8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A35FEB-6388-0F4A-AACF-78BBCE56B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07D2CE-3DE5-2649-B09E-7715F016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FA402C-B656-A94F-A939-26A1AA85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F5B64-6386-B54F-8FED-6D3063F1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22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947D3-0C28-DA4C-AABE-A640F0DE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3CC91C-E1D9-3A40-B179-EE7DAA022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BBBDC6-E2B3-FD44-821B-360F8C8F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09AD5-4B8D-544C-958E-6A3C4BD5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6517DB-5CB8-344C-B986-6730FA2D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61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92899-0E51-7945-866C-E85AFCA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6079FF-018F-9A48-BE5A-752B90911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66E7F-2490-7043-809E-539A2CE27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B8AF33-B0CD-2543-87B4-998A036F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814C17-1470-A043-AF4C-B1B58594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99E799-6119-ED49-A69B-0E4AE0D2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49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F778E-49D0-084E-995C-EC784254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CB0664-5622-0B42-885F-1294D6252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BA44D9-E7D7-F54B-9170-3FE92E319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D497B2-5C37-B643-A6CA-785F5F038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AEAE59-9EE0-CD47-B0E3-8235259C7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7211DB-F3C1-2348-A9BF-6B9F92CE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8A9167-BEA8-9F4A-8C32-0E4B5A47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9D5CD9-CF6A-EF4E-89B5-C6C60DF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1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BE3C2-F222-2141-B79C-71AE7372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A3E97F-5B3F-FC4A-9D82-E44E4F35C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19C726-1156-EB45-BCDC-646E8F91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51AACD-ADB6-534F-9CB7-CA0082A3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38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3155F2-163E-6149-A67F-1C12B0FB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765525-5B10-5244-A6B0-53C73927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D68CA5-CF69-E944-83BD-8AB809C6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993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4643E-2A4A-F744-80A8-587D78D8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E9DB04-E68A-5843-8357-1ECB0ED90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C9D24F-1891-4A42-B575-69FD3EDD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48694E-74BA-9B4A-83E1-D28B6A98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1DF7E1-B28F-444F-A6FF-5DC72B85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731E4E-DDC1-0E4A-98F7-CBD1961E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93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2285C-881D-8D49-A6F6-78AC5953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D58E94-80C0-1B48-A459-38879DFCB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EF7AEC-2BA0-1C44-8845-707588ACE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F0BB33-41F2-2947-A856-EB7A16FE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4D9129-ACCB-3047-A60B-5487506E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39FFF4-906F-924E-9DB8-0D8C9D83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14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C0210-6ECD-1246-B992-56FC9FA8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73B85A-0F2E-E849-B55F-E93F25602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E1D6E7-9D8F-B94A-B828-98D04519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42B492-8413-954B-B162-016AA588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3503DC-3452-414C-9F12-91E68642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07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6D470C-0C02-0E45-932E-81CEE27FE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C4150F-97F1-D34F-B666-2EAD35C25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D294C5-3332-D049-BF95-ABFEA8B4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56D81-89C8-094A-8961-9D0FA03D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7C9988-8D8D-4341-9A52-A70CEAA8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65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A9F9B2-ABB5-4F47-BB24-120031AA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D276E5-A7F9-CC42-A2DB-610DE34B4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43E164-19C3-AC45-B03D-030AF57A0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37B9C-E973-DE4D-8A36-078CFDE67FAF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909148-5FA8-E84C-A5F8-3AE13CCA4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4E8A23-C454-094C-8076-4570E1EAD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A72C9-C7E8-F543-A8CE-AB4FD2B68D99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8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2.faculdadeam.edu.br/bacharelado-em-sistemas-de-informacao/" TargetMode="Externa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ustomXml" Target="../ink/ink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4D07417-91CC-1D44-1EFB-F27C3C7EC89E}"/>
              </a:ext>
            </a:extLst>
          </p:cNvPr>
          <p:cNvSpPr txBox="1"/>
          <p:nvPr/>
        </p:nvSpPr>
        <p:spPr>
          <a:xfrm>
            <a:off x="3372145" y="4988115"/>
            <a:ext cx="54477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  <a:latin typeface="Aptos Display" panose="020B0004020202020204" pitchFamily="34" charset="0"/>
              </a:rPr>
              <a:t>Pensamento Computacional</a:t>
            </a:r>
          </a:p>
          <a:p>
            <a:pPr algn="ctr"/>
            <a:r>
              <a:rPr lang="pt-BR" sz="3600" dirty="0">
                <a:solidFill>
                  <a:schemeClr val="bg1"/>
                </a:solidFill>
                <a:latin typeface="Aptos Display" panose="020B0004020202020204" pitchFamily="34" charset="0"/>
              </a:rPr>
              <a:t>Prof. Leonam </a:t>
            </a:r>
            <a:r>
              <a:rPr lang="pt-BR" sz="36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Hemann</a:t>
            </a:r>
            <a:endParaRPr lang="pt-BR" sz="36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99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18DE2A7-7FBC-C969-83DD-936280EE8D01}"/>
              </a:ext>
            </a:extLst>
          </p:cNvPr>
          <p:cNvSpPr txBox="1"/>
          <p:nvPr/>
        </p:nvSpPr>
        <p:spPr>
          <a:xfrm>
            <a:off x="1175657" y="10998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Apresentação do Professor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4D9DC60C-E21E-F47A-8E99-9EC9A50B018C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4D9DC60C-E21E-F47A-8E99-9EC9A50B01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E58D9DB-7776-C0C1-DD16-8DE7DDF949C1}"/>
              </a:ext>
            </a:extLst>
          </p:cNvPr>
          <p:cNvCxnSpPr/>
          <p:nvPr/>
        </p:nvCxnSpPr>
        <p:spPr>
          <a:xfrm>
            <a:off x="1262743" y="1872343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45781C-73F6-26B6-A777-1998989FA83D}"/>
              </a:ext>
            </a:extLst>
          </p:cNvPr>
          <p:cNvSpPr txBox="1"/>
          <p:nvPr/>
        </p:nvSpPr>
        <p:spPr>
          <a:xfrm>
            <a:off x="1175656" y="2101335"/>
            <a:ext cx="950322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Prof. Leonam Vieira </a:t>
            </a:r>
            <a:r>
              <a:rPr lang="pt-BR" sz="2400" dirty="0" err="1"/>
              <a:t>Hemann</a:t>
            </a:r>
            <a:endParaRPr lang="pt-BR" sz="2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Graduação em Matemática Licenciatura – UFN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Graduação em Engenharia de Controle e Automação – UFSM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Mestrado em Ciências e Matemática – UFN – Pesquisa desenvolvida em Pensamento Computacional em desenvolvimento de projetos com Arduino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000" dirty="0"/>
              <a:t>Doutorando no Programa de Ciências e Matemática – UFN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Contato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/>
              <a:t>leonam.hemann@amf.edu.br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/>
              <a:t>(55) 98141-3255</a:t>
            </a:r>
          </a:p>
        </p:txBody>
      </p:sp>
    </p:spTree>
    <p:extLst>
      <p:ext uri="{BB962C8B-B14F-4D97-AF65-F5344CB8AC3E}">
        <p14:creationId xmlns:p14="http://schemas.microsoft.com/office/powerpoint/2010/main" val="324358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8809-5E76-AFA3-E9F8-B34FE0D7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0CBC52D-D907-8349-1670-9EE04C2B2C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611E3E-9940-BF12-1DDA-4AD02FCAB1E4}"/>
              </a:ext>
            </a:extLst>
          </p:cNvPr>
          <p:cNvSpPr txBox="1"/>
          <p:nvPr/>
        </p:nvSpPr>
        <p:spPr>
          <a:xfrm>
            <a:off x="1175657" y="10998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Apresentação do Professor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B578168A-34E3-D669-C62E-B2652044A426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B578168A-34E3-D669-C62E-B2652044A4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F1662CE-B8B8-67A1-D8AB-5877A81600D0}"/>
              </a:ext>
            </a:extLst>
          </p:cNvPr>
          <p:cNvCxnSpPr/>
          <p:nvPr/>
        </p:nvCxnSpPr>
        <p:spPr>
          <a:xfrm>
            <a:off x="1262743" y="1872343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B9F747-8995-0779-82D8-8B92122F9AD4}"/>
              </a:ext>
            </a:extLst>
          </p:cNvPr>
          <p:cNvSpPr txBox="1"/>
          <p:nvPr/>
        </p:nvSpPr>
        <p:spPr>
          <a:xfrm>
            <a:off x="1175656" y="2101335"/>
            <a:ext cx="95032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Prof. Leonam Vieira </a:t>
            </a:r>
            <a:r>
              <a:rPr lang="pt-BR" sz="2400" dirty="0" err="1"/>
              <a:t>Hemann</a:t>
            </a:r>
            <a:endParaRPr lang="pt-BR" sz="2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 err="1"/>
              <a:t>Instabov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6395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005C4-950F-0E1F-9AEF-CB9E3084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27ABD42-7947-8AAC-726A-F0C4502002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57F401E-92A1-2923-86A8-9DFC7A567F8F}"/>
              </a:ext>
            </a:extLst>
          </p:cNvPr>
          <p:cNvSpPr txBox="1"/>
          <p:nvPr/>
        </p:nvSpPr>
        <p:spPr>
          <a:xfrm>
            <a:off x="1175657" y="5011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Apresentação da Disciplina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0C2C8E58-8220-DEC2-C8F3-DBB16EDC499D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0C2C8E58-8220-DEC2-C8F3-DBB16EDC49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13380E2-8EC6-B5EF-EE60-E5D3B3D06E6E}"/>
              </a:ext>
            </a:extLst>
          </p:cNvPr>
          <p:cNvCxnSpPr/>
          <p:nvPr/>
        </p:nvCxnSpPr>
        <p:spPr>
          <a:xfrm>
            <a:off x="1262743" y="1273629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5CD49C-88C1-7816-2707-29D33DBA2B07}"/>
              </a:ext>
            </a:extLst>
          </p:cNvPr>
          <p:cNvSpPr txBox="1"/>
          <p:nvPr/>
        </p:nvSpPr>
        <p:spPr>
          <a:xfrm>
            <a:off x="1175656" y="1502621"/>
            <a:ext cx="95032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Curso: Sistema de Informação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/>
              <a:t> Carga Horária: 60 horas.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Site do curso: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>
                <a:hlinkClick r:id="rId6"/>
              </a:rPr>
              <a:t>https://www2.faculdadeam.edu.br/bacharelado-em-sistemas-de-informacao/</a:t>
            </a:r>
            <a:endParaRPr lang="pt-BR" sz="2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Material: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/>
              <a:t>Google </a:t>
            </a:r>
            <a:r>
              <a:rPr lang="pt-BR" sz="2400" dirty="0" err="1"/>
              <a:t>classroom</a:t>
            </a:r>
            <a:r>
              <a:rPr lang="pt-BR" sz="2400" dirty="0"/>
              <a:t>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/>
              <a:t>4z6pzeaf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/>
              <a:t>Whatsapp: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400" dirty="0"/>
              <a:t>Criar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4069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46C7-EB2D-E7E3-46EB-A68BF148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8C872CF-E759-E516-E5F5-5164E8F793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9258ACF-C95C-2446-D5FE-D7E2FFCD7972}"/>
              </a:ext>
            </a:extLst>
          </p:cNvPr>
          <p:cNvSpPr txBox="1"/>
          <p:nvPr/>
        </p:nvSpPr>
        <p:spPr>
          <a:xfrm>
            <a:off x="1175657" y="501135"/>
            <a:ext cx="821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3600" dirty="0"/>
              <a:t>Ementa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7E884509-EAC0-D62A-B7D0-A3EEE066B5B4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7E884509-EAC0-D62A-B7D0-A3EEE066B5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39F0F80-5803-2DFC-3714-ECA3A46A10BB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F025BD5-8EDF-F104-D7DE-E71B332A694B}"/>
              </a:ext>
            </a:extLst>
          </p:cNvPr>
          <p:cNvSpPr txBox="1"/>
          <p:nvPr/>
        </p:nvSpPr>
        <p:spPr>
          <a:xfrm>
            <a:off x="1344385" y="2227662"/>
            <a:ext cx="95032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	Estudo sobre o conceito de pensamento computacional, suas definições, habilidades, competências e as principais metodologias para sua promoção e desenvolvimento, bem como a exploração dos quatros principais conceitos do pensamento computacional: abstração, algoritmos e procedimentos, generalização e reconhecimento de padrões; Ferramentas plugadas e desplugadas para o Ensino do Pensamento Computacional; Modelos de comunicação interativos-colaborativos pela interconexão entre dispositivos de comunicação digital; Plataformas de apoio ao ensino do raciocínio computacional; Projetos com apoio de computação.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2107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369-1294-BBFF-4A18-71ACB5A0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D85E797-28A2-C1FB-45F7-7FFC3AABAB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E0463AB-D576-532F-DD5A-A2A29E6D215D}"/>
              </a:ext>
            </a:extLst>
          </p:cNvPr>
          <p:cNvSpPr txBox="1"/>
          <p:nvPr/>
        </p:nvSpPr>
        <p:spPr>
          <a:xfrm>
            <a:off x="1175657" y="501135"/>
            <a:ext cx="821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3600" dirty="0"/>
              <a:t>Objetivo Geral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7EDCC234-7EEB-CD9F-E4C8-4D4973543536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7EDCC234-7EEB-CD9F-E4C8-4D49735435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5553E7C-A253-6514-C531-A06D140FABFB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7D015B-E458-1E2F-F4BB-2223DBFA0A00}"/>
              </a:ext>
            </a:extLst>
          </p:cNvPr>
          <p:cNvSpPr txBox="1"/>
          <p:nvPr/>
        </p:nvSpPr>
        <p:spPr>
          <a:xfrm>
            <a:off x="1344385" y="2920159"/>
            <a:ext cx="95032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	</a:t>
            </a:r>
            <a:r>
              <a:rPr lang="pt-BR" sz="2800" dirty="0"/>
              <a:t>Conhecer os principais conceitos de pensamento computacional, suas definições, habilidades, competências e as principais metodologias para sua promoção e desenvolvimento.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063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1901-29F4-1FC8-FCC4-2B3E7CD0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26CBD3A-548B-3C53-E7FA-4D3DEEF4CD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A2FD022-D585-1E4B-1F33-B3B266E6C2DB}"/>
              </a:ext>
            </a:extLst>
          </p:cNvPr>
          <p:cNvSpPr txBox="1"/>
          <p:nvPr/>
        </p:nvSpPr>
        <p:spPr>
          <a:xfrm>
            <a:off x="1175657" y="501135"/>
            <a:ext cx="821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3600" dirty="0"/>
              <a:t>Objetivos </a:t>
            </a:r>
            <a:r>
              <a:rPr lang="pt-BR" sz="3600" b="1" dirty="0"/>
              <a:t>Específicos</a:t>
            </a:r>
            <a:endParaRPr lang="pt-BR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B6619DEA-8D3F-27FF-043E-59F1E5C35C10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B6619DEA-8D3F-27FF-043E-59F1E5C35C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F028359-8754-DF07-E2BF-237BA7C7158D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D600D2-20DE-B88A-FE3B-75ABBCF3B6A8}"/>
              </a:ext>
            </a:extLst>
          </p:cNvPr>
          <p:cNvSpPr txBox="1"/>
          <p:nvPr/>
        </p:nvSpPr>
        <p:spPr>
          <a:xfrm>
            <a:off x="1344385" y="1895404"/>
            <a:ext cx="9503229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000" dirty="0"/>
          </a:p>
          <a:p>
            <a:pPr lvl="0"/>
            <a:r>
              <a:rPr lang="pt-BR" sz="2000" dirty="0"/>
              <a:t>Conhecer e praticar diversas técnicas de lógica;</a:t>
            </a:r>
          </a:p>
          <a:p>
            <a:pPr lvl="0"/>
            <a:r>
              <a:rPr lang="pt-BR" sz="2000" dirty="0"/>
              <a:t>Conhecer os principais conceitos ligados ao pensamento computacional;</a:t>
            </a:r>
          </a:p>
          <a:p>
            <a:pPr lvl="0"/>
            <a:r>
              <a:rPr lang="pt-BR" sz="2000" dirty="0"/>
              <a:t>Proporcionar aos alunos conhecimentos para desenvolvimento de lógica relacionada ao pensamento computacional;</a:t>
            </a:r>
          </a:p>
          <a:p>
            <a:pPr lvl="0"/>
            <a:r>
              <a:rPr lang="pt-BR" sz="2000" dirty="0"/>
              <a:t>Apresentação de ferramentas plugadas e desplugadas para o Ensino do Pensamento Computacional;</a:t>
            </a:r>
          </a:p>
          <a:p>
            <a:pPr lvl="0"/>
            <a:r>
              <a:rPr lang="pt-BR" sz="2000" dirty="0"/>
              <a:t>Fundamentos da computação: introdução a organização de computadores; introdução a formalismos e abstrações;</a:t>
            </a:r>
          </a:p>
          <a:p>
            <a:pPr lvl="0"/>
            <a:r>
              <a:rPr lang="pt-BR" sz="2000" dirty="0"/>
              <a:t>Apresentar os principais pontos ligados à lógica e programação: técnicas, comandos e estruturas de controle;</a:t>
            </a:r>
          </a:p>
          <a:p>
            <a:pPr lvl="0"/>
            <a:r>
              <a:rPr lang="pt-BR" sz="2000" dirty="0"/>
              <a:t>Apresentar os principais pontos para construção de algoritmos ligados às principais linguagens de programação.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3705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99D6-70EE-9CA2-CD8C-9712B441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A25D6E1-061B-6507-5DBA-BAC03C17DE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CF7BB54-0841-E2DC-E046-738100533B69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Conteúdo programático: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90DB1360-0CE1-FECC-DEFA-1447968057DF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90DB1360-0CE1-FECC-DEFA-1447968057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D49ACD7-B219-7FF4-B4C8-190D0F32EA1B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BFFC63-C482-2281-A26E-DFFADED034A6}"/>
              </a:ext>
            </a:extLst>
          </p:cNvPr>
          <p:cNvSpPr txBox="1"/>
          <p:nvPr/>
        </p:nvSpPr>
        <p:spPr>
          <a:xfrm>
            <a:off x="1344385" y="1895404"/>
            <a:ext cx="95032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1. Pensamento computacional:</a:t>
            </a:r>
          </a:p>
          <a:p>
            <a:r>
              <a:rPr lang="pt-BR" sz="2400" dirty="0"/>
              <a:t>1.1. Conceitos e aplicações do pensamento computacional</a:t>
            </a:r>
            <a:br>
              <a:rPr lang="pt-BR" sz="2400" dirty="0"/>
            </a:br>
            <a:r>
              <a:rPr lang="pt-BR" sz="2400" dirty="0"/>
              <a:t>1.2. Decomposição, abstração, padrões e generalização</a:t>
            </a:r>
            <a:br>
              <a:rPr lang="pt-BR" sz="2400" dirty="0"/>
            </a:br>
            <a:r>
              <a:rPr lang="pt-BR" sz="2400" dirty="0"/>
              <a:t>1.3. Algoritmos e representações: pseudocódigo e fluxograma</a:t>
            </a:r>
          </a:p>
          <a:p>
            <a:r>
              <a:rPr lang="pt-BR" sz="2400" dirty="0"/>
              <a:t>2. Fundamentos da computação:</a:t>
            </a:r>
          </a:p>
          <a:p>
            <a:r>
              <a:rPr lang="pt-BR" sz="2400" dirty="0"/>
              <a:t>2.1. Hardware e software: noções essenciais</a:t>
            </a:r>
            <a:br>
              <a:rPr lang="pt-BR" sz="2400" dirty="0"/>
            </a:br>
            <a:r>
              <a:rPr lang="pt-BR" sz="2400" dirty="0"/>
              <a:t>2.2. Modelo Entrada–Processamento–Saída</a:t>
            </a:r>
            <a:br>
              <a:rPr lang="pt-BR" sz="2400" dirty="0"/>
            </a:br>
            <a:r>
              <a:rPr lang="pt-BR" sz="2400" dirty="0"/>
              <a:t>2.3. Programa e fluxo de execução (inicialização e repetição)</a:t>
            </a:r>
          </a:p>
          <a:p>
            <a:r>
              <a:rPr lang="pt-BR" sz="2400" dirty="0"/>
              <a:t>3. Lógica e Programação:</a:t>
            </a:r>
          </a:p>
          <a:p>
            <a:r>
              <a:rPr lang="pt-BR" sz="2400" dirty="0"/>
              <a:t>	3.1. Lógica de programação;</a:t>
            </a:r>
          </a:p>
          <a:p>
            <a:r>
              <a:rPr lang="pt-BR" sz="2400" dirty="0"/>
              <a:t>	3.2. Apresentação de conceitos de programação;</a:t>
            </a:r>
          </a:p>
          <a:p>
            <a:r>
              <a:rPr lang="pt-BR" sz="2400" dirty="0"/>
              <a:t>	3.3. Construção de algoritmos;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694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9A64-939E-F3C8-E5B5-EDD145F4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F497FEC-4F61-0000-EBD1-2E1D9F3EB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52BFC3D-55EC-1814-9E11-763F1899773C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Conteúdo programático: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84C175C8-3983-F1B1-9EA3-E3B1E1A3ED24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84C175C8-3983-F1B1-9EA3-E3B1E1A3ED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E0AF559-484A-B884-F05E-54E5715241EA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A7221F-D96E-AB6B-517E-4B10D2AD5648}"/>
              </a:ext>
            </a:extLst>
          </p:cNvPr>
          <p:cNvSpPr txBox="1"/>
          <p:nvPr/>
        </p:nvSpPr>
        <p:spPr>
          <a:xfrm>
            <a:off x="1344385" y="1895404"/>
            <a:ext cx="95032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1. Pensamento computacional:</a:t>
            </a:r>
          </a:p>
          <a:p>
            <a:r>
              <a:rPr lang="pt-BR" sz="2400" dirty="0"/>
              <a:t>	1.1. Conceitos e aplicações do pensamento computacional</a:t>
            </a:r>
            <a:br>
              <a:rPr lang="pt-BR" sz="2400" dirty="0"/>
            </a:br>
            <a:r>
              <a:rPr lang="pt-BR" sz="2400" dirty="0"/>
              <a:t>	1.2. Decomposição, abstração, padrões e generalização</a:t>
            </a:r>
            <a:br>
              <a:rPr lang="pt-BR" sz="2400" dirty="0"/>
            </a:br>
            <a:r>
              <a:rPr lang="pt-BR" sz="2400" dirty="0"/>
              <a:t>	1.3. Algoritmos e representações: pseudocódigo e fluxograma</a:t>
            </a:r>
          </a:p>
          <a:p>
            <a:r>
              <a:rPr lang="pt-BR" sz="2400" dirty="0"/>
              <a:t>2. Fundamentos da computação:</a:t>
            </a:r>
          </a:p>
          <a:p>
            <a:r>
              <a:rPr lang="pt-BR" sz="2400" dirty="0"/>
              <a:t>	2.1. Hardware e software: noções essenciais</a:t>
            </a:r>
            <a:br>
              <a:rPr lang="pt-BR" sz="2400" dirty="0"/>
            </a:br>
            <a:r>
              <a:rPr lang="pt-BR" sz="2400" dirty="0"/>
              <a:t>	2.2. Modelo Entrada–Processamento–Saída</a:t>
            </a:r>
            <a:br>
              <a:rPr lang="pt-BR" sz="2400" dirty="0"/>
            </a:br>
            <a:r>
              <a:rPr lang="pt-BR" sz="2400" dirty="0"/>
              <a:t>	2.3. Programa e fluxo de execução (inicialização e repetição)</a:t>
            </a:r>
          </a:p>
          <a:p>
            <a:r>
              <a:rPr lang="pt-BR" sz="2400" dirty="0"/>
              <a:t>3. Lógica e Programação:</a:t>
            </a:r>
          </a:p>
          <a:p>
            <a:r>
              <a:rPr lang="pt-BR" sz="2400" dirty="0"/>
              <a:t>	3.1. Lógica de programação;</a:t>
            </a:r>
          </a:p>
          <a:p>
            <a:r>
              <a:rPr lang="pt-BR" sz="2400" dirty="0"/>
              <a:t>	3.2. Apresentação de conceitos de programação;</a:t>
            </a:r>
          </a:p>
          <a:p>
            <a:r>
              <a:rPr lang="pt-BR" sz="2400" dirty="0"/>
              <a:t>	3.3. Construção de algoritmos;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782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7CF5-9A1E-396B-D570-B5679FEE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EF89C6A-6951-EE6D-2A5A-8316EE89E4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E33421A-0BDA-78C6-CE94-E703760BB1CA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Conteúdo programático: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E0AAFCB7-7DC5-B067-91C1-9E6F655793BE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E0AAFCB7-7DC5-B067-91C1-9E6F655793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E5E78A3-46D3-E6EE-DBCB-14DAE4C0A39A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52A178-D90F-4D3A-EAC3-A0F69DA810B2}"/>
              </a:ext>
            </a:extLst>
          </p:cNvPr>
          <p:cNvSpPr txBox="1"/>
          <p:nvPr/>
        </p:nvSpPr>
        <p:spPr>
          <a:xfrm>
            <a:off x="1344385" y="2069576"/>
            <a:ext cx="9503229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4. Lógica e Estruturas de Controle:</a:t>
            </a:r>
          </a:p>
          <a:p>
            <a:r>
              <a:rPr lang="pt-BR" sz="2000" dirty="0"/>
              <a:t>	4.1. Variáveis, tipos de dados e operadores (aritméticos, lógicos e relacionais)</a:t>
            </a:r>
            <a:br>
              <a:rPr lang="pt-BR" sz="2000" dirty="0"/>
            </a:br>
            <a:r>
              <a:rPr lang="pt-BR" sz="2000" dirty="0"/>
              <a:t>	4.2. Decisão: seleção condicional e múltipla</a:t>
            </a:r>
            <a:br>
              <a:rPr lang="pt-BR" sz="2000" dirty="0"/>
            </a:br>
            <a:r>
              <a:rPr lang="pt-BR" sz="2000" dirty="0"/>
              <a:t>	4.3. Repetição e controle de tempo (laços e temporização)</a:t>
            </a:r>
          </a:p>
          <a:p>
            <a:r>
              <a:rPr lang="pt-BR" sz="2000" dirty="0"/>
              <a:t>5. Estruturas básicas de um algoritmo:</a:t>
            </a:r>
          </a:p>
          <a:p>
            <a:r>
              <a:rPr lang="pt-BR" sz="2000" dirty="0"/>
              <a:t>	5.1. Fundamentos de linguagem e estrutura de programas</a:t>
            </a:r>
            <a:br>
              <a:rPr lang="pt-BR" sz="2000" dirty="0"/>
            </a:br>
            <a:r>
              <a:rPr lang="pt-BR" sz="2000" dirty="0"/>
              <a:t>	5.2. Abstração, generalização e reconhecimento de padrões</a:t>
            </a:r>
            <a:br>
              <a:rPr lang="pt-BR" sz="2000" dirty="0"/>
            </a:br>
            <a:r>
              <a:rPr lang="pt-BR" sz="2000" dirty="0"/>
              <a:t>	5.3. Construção de algoritmos: entrada e saída, variáveis e operadores</a:t>
            </a:r>
            <a:br>
              <a:rPr lang="pt-BR" sz="2000" dirty="0"/>
            </a:br>
            <a:r>
              <a:rPr lang="pt-BR" sz="2000" dirty="0"/>
              <a:t>	5.4. Estruturas de controle: seleção e repetição</a:t>
            </a:r>
            <a:br>
              <a:rPr lang="pt-BR" sz="2000" dirty="0"/>
            </a:br>
            <a:r>
              <a:rPr lang="pt-BR" sz="2000" dirty="0"/>
              <a:t>	5.5. Estruturas de dados: vetores e matrizes</a:t>
            </a:r>
            <a:br>
              <a:rPr lang="pt-BR" sz="2000" dirty="0"/>
            </a:br>
            <a:r>
              <a:rPr lang="pt-BR" sz="2000" dirty="0"/>
              <a:t>	5.6. Modularização: funções e procedimentos</a:t>
            </a:r>
            <a:br>
              <a:rPr lang="pt-BR" sz="2000" dirty="0"/>
            </a:br>
            <a:r>
              <a:rPr lang="pt-BR" sz="2000" dirty="0"/>
              <a:t>	5.7. Exemplos e exercícios de algoritmos aplicados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406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9D2A-EBE4-E76A-36D2-B53BC607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05627AC-E8D6-9325-18FB-A18C27A27C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6FACB48-3E66-6072-511D-A2A2E444A815}"/>
              </a:ext>
            </a:extLst>
          </p:cNvPr>
          <p:cNvSpPr txBox="1"/>
          <p:nvPr/>
        </p:nvSpPr>
        <p:spPr>
          <a:xfrm>
            <a:off x="1175657" y="501135"/>
            <a:ext cx="82187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400" b="1" cap="small" dirty="0"/>
              <a:t>Bibliografia</a:t>
            </a:r>
            <a:endParaRPr lang="pt-BR" sz="8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C31EFDF1-EE9B-5723-2426-F4C0D9964AD5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C31EFDF1-EE9B-5723-2426-F4C0D9964A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8256A1-9D8E-8475-AE6F-7AB3D04DF58B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30BE96-836D-0829-7E57-55E41E8A976B}"/>
              </a:ext>
            </a:extLst>
          </p:cNvPr>
          <p:cNvSpPr txBox="1"/>
          <p:nvPr/>
        </p:nvSpPr>
        <p:spPr>
          <a:xfrm>
            <a:off x="1344385" y="2069576"/>
            <a:ext cx="95032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u="sng" cap="small" dirty="0"/>
              <a:t>Básica:</a:t>
            </a:r>
            <a:endParaRPr lang="pt-BR" dirty="0"/>
          </a:p>
          <a:p>
            <a:r>
              <a:rPr lang="pt-BR" cap="small" dirty="0"/>
              <a:t> </a:t>
            </a:r>
            <a:endParaRPr lang="pt-BR" dirty="0"/>
          </a:p>
          <a:p>
            <a:r>
              <a:rPr lang="pt-BR" cap="small" dirty="0"/>
              <a:t>MEDINA, MARCO; FERTIG, CRISTINA. ALGORITMOS E PROGRAMAÇÃO. ED. 2. SÃO PAULO:</a:t>
            </a:r>
            <a:endParaRPr lang="pt-BR" dirty="0"/>
          </a:p>
          <a:p>
            <a:r>
              <a:rPr lang="pt-BR" cap="small" dirty="0"/>
              <a:t>NOVATEC, 2006. 384 P. ISBN 978-85-752-073-X.</a:t>
            </a:r>
            <a:endParaRPr lang="pt-BR" dirty="0"/>
          </a:p>
          <a:p>
            <a:r>
              <a:rPr lang="pt-BR" cap="small" dirty="0"/>
              <a:t> </a:t>
            </a:r>
            <a:endParaRPr lang="pt-BR" dirty="0"/>
          </a:p>
          <a:p>
            <a:r>
              <a:rPr lang="pt-BR" dirty="0"/>
              <a:t>JR., Dilermando. Algoritmos e Programação de Computadores. 2. ed. Rio de Janeiro: GEN LTC, 2019. E-book. </a:t>
            </a:r>
            <a:r>
              <a:rPr lang="pt-BR" dirty="0" err="1"/>
              <a:t>p.ii</a:t>
            </a:r>
            <a:r>
              <a:rPr lang="pt-BR" dirty="0"/>
              <a:t>. ISBN 9788595150508. Disponível em: https://integrada.minhabiblioteca.com.br/</a:t>
            </a:r>
            <a:r>
              <a:rPr lang="pt-BR" dirty="0" err="1"/>
              <a:t>reader</a:t>
            </a:r>
            <a:r>
              <a:rPr lang="pt-BR" dirty="0"/>
              <a:t>/books/9788595150508/. 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SEBESTA, Robert. Conceitos de linguagens de programação. 11. ed. Porto Alegre: Bookman, 2018. E-book. </a:t>
            </a:r>
            <a:r>
              <a:rPr lang="pt-BR" dirty="0" err="1"/>
              <a:t>p.Capa</a:t>
            </a:r>
            <a:r>
              <a:rPr lang="pt-BR" dirty="0"/>
              <a:t>. ISBN 9788582604694. Disponível em: https://integrada.minhabiblioteca.com.br/reader/books/9788582604694/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097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8765-5950-663F-39F8-5F5FE605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783B389-3B97-3245-28EC-0F34698CA4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D6447CF-54E1-1C7D-4322-DF1BE8DC0CAD}"/>
              </a:ext>
            </a:extLst>
          </p:cNvPr>
          <p:cNvSpPr txBox="1"/>
          <p:nvPr/>
        </p:nvSpPr>
        <p:spPr>
          <a:xfrm>
            <a:off x="1175657" y="501135"/>
            <a:ext cx="82187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400" b="1" cap="small" dirty="0"/>
              <a:t>Bibliografia</a:t>
            </a:r>
            <a:endParaRPr lang="pt-BR" sz="8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674D895B-D3EF-CB3E-AE0A-9BF723EFE405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674D895B-D3EF-CB3E-AE0A-9BF723EFE4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88C8C3E-7244-48CC-F9B7-633F261F82CC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0ACC7F0-C2AF-694F-AA72-BBB8AF996918}"/>
              </a:ext>
            </a:extLst>
          </p:cNvPr>
          <p:cNvSpPr txBox="1"/>
          <p:nvPr/>
        </p:nvSpPr>
        <p:spPr>
          <a:xfrm>
            <a:off x="1344385" y="2069576"/>
            <a:ext cx="95032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u="sng" cap="small" dirty="0"/>
              <a:t>Complementar:</a:t>
            </a:r>
            <a:endParaRPr lang="pt-BR" dirty="0"/>
          </a:p>
          <a:p>
            <a:r>
              <a:rPr lang="pt-BR" cap="small" dirty="0"/>
              <a:t> </a:t>
            </a:r>
            <a:endParaRPr lang="pt-BR" dirty="0"/>
          </a:p>
          <a:p>
            <a:r>
              <a:rPr lang="pt-BR" cap="small" dirty="0"/>
              <a:t>BROOKSHEAR, J. GLENN. CIÊNCIAS DA COMPUTAÇÃO: UMA VISÃO ABRANGENTE. ED. 7. PORTO ALEGRE: BOOKMAN, 2005. 512 P.. ISBN 978-85-363-0438-0.</a:t>
            </a:r>
            <a:endParaRPr lang="pt-BR" dirty="0"/>
          </a:p>
          <a:p>
            <a:r>
              <a:rPr lang="pt-BR" cap="small" dirty="0"/>
              <a:t> </a:t>
            </a:r>
            <a:endParaRPr lang="pt-BR" dirty="0"/>
          </a:p>
          <a:p>
            <a:r>
              <a:rPr lang="pt-BR" cap="small" dirty="0"/>
              <a:t>SOUZA, JOÃO. LÓGICA PARA CIÊNCIA DA COMPUTAÇÃO: UMA INTRODUÇÃO CONCISA. RIO DE JANEIRO: ELSEVIER, 2008. 220 P.. ISBN 9,78854E+12.</a:t>
            </a:r>
            <a:endParaRPr lang="pt-BR" dirty="0"/>
          </a:p>
          <a:p>
            <a:r>
              <a:rPr lang="pt-BR" b="1" cap="small" dirty="0"/>
              <a:t> </a:t>
            </a:r>
            <a:endParaRPr lang="pt-BR" dirty="0"/>
          </a:p>
          <a:p>
            <a:r>
              <a:rPr lang="pt-BR" cap="small" dirty="0"/>
              <a:t>MONK, Simon. Programação com </a:t>
            </a:r>
            <a:r>
              <a:rPr lang="pt-BR" cap="small" dirty="0" err="1"/>
              <a:t>arduino</a:t>
            </a:r>
            <a:r>
              <a:rPr lang="pt-BR" cap="small" dirty="0"/>
              <a:t> II. Porto Alegre: Bookman, 2015. E-book. p.1. ISBN 9788582602973. Disponível em: https://integrada.minhabiblioteca.com.br/</a:t>
            </a:r>
            <a:r>
              <a:rPr lang="pt-BR" cap="small" dirty="0" err="1"/>
              <a:t>reader</a:t>
            </a:r>
            <a:r>
              <a:rPr lang="pt-BR" cap="small" dirty="0"/>
              <a:t>/books/9788582602973/. </a:t>
            </a:r>
            <a:endParaRPr lang="pt-BR" dirty="0"/>
          </a:p>
          <a:p>
            <a:r>
              <a:rPr lang="pt-BR" cap="small" dirty="0"/>
              <a:t> </a:t>
            </a:r>
            <a:endParaRPr lang="pt-BR" dirty="0"/>
          </a:p>
          <a:p>
            <a:r>
              <a:rPr lang="pt-BR" cap="small" dirty="0"/>
              <a:t>RIBEIRO, João A. Introdução à Programação e aos Algoritmos. Rio de Janeiro: LTC, 2019. E-book. </a:t>
            </a:r>
            <a:r>
              <a:rPr lang="pt-BR" cap="small" dirty="0" err="1"/>
              <a:t>p.xii</a:t>
            </a:r>
            <a:r>
              <a:rPr lang="pt-BR" cap="small" dirty="0"/>
              <a:t>. ISBN 9788521636410. Disponível em: https://integrada.minhabiblioteca.com.br/</a:t>
            </a:r>
            <a:r>
              <a:rPr lang="pt-BR" cap="small" dirty="0" err="1"/>
              <a:t>reader</a:t>
            </a:r>
            <a:r>
              <a:rPr lang="pt-BR" cap="small" dirty="0"/>
              <a:t>/books/9788521636410.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257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389B-2B9F-D302-ECEC-3DC32F40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AC9EB67-BF10-C55A-A4AF-7B11F8D994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A99EED1-618F-FEC9-6AC6-00335674CB88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Procedimentos de ensino: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F4043E82-D6A4-42E7-9396-A6803FE5FE0C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F4043E82-D6A4-42E7-9396-A6803FE5FE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57DD8F5-43C4-D73F-45C1-30B0F3A7600A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906B53-3913-CBD7-76B7-305DDB625F84}"/>
              </a:ext>
            </a:extLst>
          </p:cNvPr>
          <p:cNvSpPr txBox="1"/>
          <p:nvPr/>
        </p:nvSpPr>
        <p:spPr>
          <a:xfrm>
            <a:off x="1344385" y="2264154"/>
            <a:ext cx="950322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Serão realizadas as seguintes atividades:</a:t>
            </a:r>
          </a:p>
          <a:p>
            <a:pPr lvl="0">
              <a:lnSpc>
                <a:spcPct val="150000"/>
              </a:lnSpc>
            </a:pPr>
            <a:r>
              <a:rPr lang="pt-BR" sz="2800" dirty="0"/>
              <a:t>Aulas expositivas com discussão e participação dos alunos;</a:t>
            </a:r>
          </a:p>
          <a:p>
            <a:pPr lvl="0">
              <a:lnSpc>
                <a:spcPct val="150000"/>
              </a:lnSpc>
            </a:pPr>
            <a:r>
              <a:rPr lang="pt-BR" sz="2800" dirty="0"/>
              <a:t>Resolução de listas de exercícios;</a:t>
            </a:r>
          </a:p>
          <a:p>
            <a:pPr lvl="0">
              <a:lnSpc>
                <a:spcPct val="150000"/>
              </a:lnSpc>
            </a:pPr>
            <a:r>
              <a:rPr lang="pt-BR" sz="2800" dirty="0"/>
              <a:t>Trabalho final;</a:t>
            </a:r>
          </a:p>
          <a:p>
            <a:pPr lvl="0">
              <a:lnSpc>
                <a:spcPct val="150000"/>
              </a:lnSpc>
            </a:pPr>
            <a:r>
              <a:rPr lang="pt-BR" sz="2800" dirty="0"/>
              <a:t>Duas avaliações (G1 e G2).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251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6C21-3BE1-21D5-15ED-16DF0EB6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E09EF9E-7F0D-82E1-6087-6FF2B814A3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0B86633-8EC6-A881-FF7E-C94F689C58B3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Avaliação: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439607A2-5D12-BFD2-7BED-6F6E4207E6CA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439607A2-5D12-BFD2-7BED-6F6E4207E6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C41D9AE-F79E-D626-81C7-C783ACCA1A43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15DA313-D3AF-E6E1-FD7E-1E62275086F5}"/>
              </a:ext>
            </a:extLst>
          </p:cNvPr>
          <p:cNvSpPr txBox="1"/>
          <p:nvPr/>
        </p:nvSpPr>
        <p:spPr>
          <a:xfrm>
            <a:off x="1175657" y="2046439"/>
            <a:ext cx="950322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Provas práticas, exercícios, estudos de casos e participação.</a:t>
            </a:r>
          </a:p>
          <a:p>
            <a:pPr lvl="0"/>
            <a:r>
              <a:rPr lang="pt-BR" sz="2800" dirty="0"/>
              <a:t>N1 = Listas de exercícios (10%), trabalhos (20%) e Prova (70%);</a:t>
            </a:r>
          </a:p>
          <a:p>
            <a:pPr lvl="0"/>
            <a:r>
              <a:rPr lang="pt-BR" sz="2800" dirty="0"/>
              <a:t>N2 = Listas de exercícios (10%), trabalhos (30%) e Prova (60%);</a:t>
            </a:r>
          </a:p>
          <a:p>
            <a:r>
              <a:rPr lang="pt-BR" sz="2800" dirty="0"/>
              <a:t> </a:t>
            </a:r>
          </a:p>
          <a:p>
            <a:r>
              <a:rPr lang="pt-BR" sz="2800" dirty="0"/>
              <a:t>Critérios de avaliação:</a:t>
            </a:r>
          </a:p>
          <a:p>
            <a:pPr lvl="0"/>
            <a:r>
              <a:rPr lang="pt-BR" sz="2800" dirty="0"/>
              <a:t>Média final = (N1 + N2) / 2</a:t>
            </a:r>
          </a:p>
          <a:p>
            <a:pPr lvl="0"/>
            <a:r>
              <a:rPr lang="pt-BR" sz="2800" dirty="0"/>
              <a:t>Média final &gt;= 7,0 → Aprovado Média final &lt; 7,0 → Avaliação N3</a:t>
            </a:r>
          </a:p>
          <a:p>
            <a:r>
              <a:rPr lang="pt-BR" sz="2800" dirty="0"/>
              <a:t>N3 + Média final &gt;= 10,0 → Aprovado</a:t>
            </a:r>
          </a:p>
        </p:txBody>
      </p:sp>
    </p:spTree>
    <p:extLst>
      <p:ext uri="{BB962C8B-B14F-4D97-AF65-F5344CB8AC3E}">
        <p14:creationId xmlns:p14="http://schemas.microsoft.com/office/powerpoint/2010/main" val="379776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6A60-0222-61BD-47C6-50AA026C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55B994F-B784-A615-FD72-D5E9EED0F1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1465ED2-BCDC-51F9-6EE8-1B01FC1E8CD7}"/>
              </a:ext>
            </a:extLst>
          </p:cNvPr>
          <p:cNvSpPr txBox="1"/>
          <p:nvPr/>
        </p:nvSpPr>
        <p:spPr>
          <a:xfrm>
            <a:off x="1175657" y="501135"/>
            <a:ext cx="821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3600" b="1" cap="small" dirty="0"/>
              <a:t>Observações Importantes:</a:t>
            </a:r>
            <a:endParaRPr lang="pt-BR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411943E8-A50E-A200-6BF2-9B452670C3D4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411943E8-A50E-A200-6BF2-9B452670C3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A668F25-3D14-6C0D-0B05-2AAD5A19838D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2C7CD7-3928-DC63-915E-9DCB96EF471C}"/>
              </a:ext>
            </a:extLst>
          </p:cNvPr>
          <p:cNvSpPr txBox="1"/>
          <p:nvPr/>
        </p:nvSpPr>
        <p:spPr>
          <a:xfrm>
            <a:off x="1175657" y="2046439"/>
            <a:ext cx="9503229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2000" dirty="0"/>
              <a:t>	As análises de aprendizagem individuais (provas) serão práticas e aplicadas em data previamente marcada;</a:t>
            </a:r>
          </a:p>
          <a:p>
            <a:pPr lvl="0">
              <a:lnSpc>
                <a:spcPct val="150000"/>
              </a:lnSpc>
            </a:pPr>
            <a:r>
              <a:rPr lang="pt-BR" sz="2000" dirty="0"/>
              <a:t>	O aluno que se ausentar no dia da realização da prova só terá direito à prova substitutiva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mediante processo administrativo devidamente protocolado e autorizado pela Secretaria;</a:t>
            </a:r>
          </a:p>
          <a:p>
            <a:pPr lvl="0">
              <a:lnSpc>
                <a:spcPct val="150000"/>
              </a:lnSpc>
            </a:pPr>
            <a:r>
              <a:rPr lang="pt-BR" sz="2000" dirty="0"/>
              <a:t>	Os trabalhos entregues com atraso terão a redução de 30% do valor e poderão ser recebidos até a aula da semana seguinte, a partir da data de entrega determinada. Não cabem formas substitutivas para os mesmos;</a:t>
            </a:r>
          </a:p>
        </p:txBody>
      </p:sp>
    </p:spTree>
    <p:extLst>
      <p:ext uri="{BB962C8B-B14F-4D97-AF65-F5344CB8AC3E}">
        <p14:creationId xmlns:p14="http://schemas.microsoft.com/office/powerpoint/2010/main" val="393589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5235-12E5-E402-03E7-114B5CC0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F0BF395-FA10-3FC2-CFC0-F6611079C2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974BCD7-C7BA-1E2F-A11B-4BE5321F477C}"/>
              </a:ext>
            </a:extLst>
          </p:cNvPr>
          <p:cNvSpPr txBox="1"/>
          <p:nvPr/>
        </p:nvSpPr>
        <p:spPr>
          <a:xfrm>
            <a:off x="1175657" y="501135"/>
            <a:ext cx="8218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3600" b="1" cap="small" dirty="0"/>
              <a:t>Observações Importantes:</a:t>
            </a:r>
            <a:endParaRPr lang="pt-BR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D0928A56-B589-0DBE-A805-B99C59415B1E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D0928A56-B589-0DBE-A805-B99C59415B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027ED5C-382E-5A0F-3BA1-66E876F5B263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BF0470-A617-E542-5375-FF21F2DC3FE4}"/>
              </a:ext>
            </a:extLst>
          </p:cNvPr>
          <p:cNvSpPr txBox="1"/>
          <p:nvPr/>
        </p:nvSpPr>
        <p:spPr>
          <a:xfrm>
            <a:off x="1175657" y="2492753"/>
            <a:ext cx="9503229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2000" dirty="0"/>
              <a:t>•	Receberão nota 0 (zero) os trabalhos que apresentarem sinais de cópias de outros trabalhos, contiverem evidências de material literalmente copiado ou traduzido de livros ou Internet;</a:t>
            </a:r>
          </a:p>
          <a:p>
            <a:pPr lvl="0">
              <a:lnSpc>
                <a:spcPct val="150000"/>
              </a:lnSpc>
            </a:pPr>
            <a:r>
              <a:rPr lang="pt-BR" sz="2000" dirty="0"/>
              <a:t>•	Respeite o professor e seus colegas, utilizando de forma otimizada: celular, notebook, laptop, tablets e conversas paralelas</a:t>
            </a:r>
          </a:p>
        </p:txBody>
      </p:sp>
    </p:spTree>
    <p:extLst>
      <p:ext uri="{BB962C8B-B14F-4D97-AF65-F5344CB8AC3E}">
        <p14:creationId xmlns:p14="http://schemas.microsoft.com/office/powerpoint/2010/main" val="3235872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490C-EF08-701B-6175-CC92CA86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5770C31-E18E-0EE3-4057-B4BC898D25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9B5EE95-2A21-9923-5504-AABD5F5779BE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Cronograma de desenvolvimento: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247839FC-DB5C-DFE9-E7BE-C899322E341B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247839FC-DB5C-DFE9-E7BE-C899322E34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484E491-B983-589D-4E01-6051469D7810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E0F1157-FED2-5E67-A665-3D9745EF7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10935"/>
              </p:ext>
            </p:extLst>
          </p:nvPr>
        </p:nvGraphicFramePr>
        <p:xfrm>
          <a:off x="1344385" y="1892368"/>
          <a:ext cx="9323615" cy="43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944">
                  <a:extLst>
                    <a:ext uri="{9D8B030D-6E8A-4147-A177-3AD203B41FA5}">
                      <a16:colId xmlns:a16="http://schemas.microsoft.com/office/drawing/2014/main" val="753641425"/>
                    </a:ext>
                  </a:extLst>
                </a:gridCol>
                <a:gridCol w="1638977">
                  <a:extLst>
                    <a:ext uri="{9D8B030D-6E8A-4147-A177-3AD203B41FA5}">
                      <a16:colId xmlns:a16="http://schemas.microsoft.com/office/drawing/2014/main" val="243647242"/>
                    </a:ext>
                  </a:extLst>
                </a:gridCol>
                <a:gridCol w="7050694">
                  <a:extLst>
                    <a:ext uri="{9D8B030D-6E8A-4147-A177-3AD203B41FA5}">
                      <a16:colId xmlns:a16="http://schemas.microsoft.com/office/drawing/2014/main" val="1835455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Nº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ENCONTRO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CONTEÚDO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00457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03/mar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Introdução ao pensamento computacional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607919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2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10/mar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Algoritmos e representações: pseudocódigo e fluxograma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6466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3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17/mar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Entradas, saídas e processamento de dados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885728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4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24/mar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Variáveis e tipos de dados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19517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5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31/mar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Operadores aritméticos, lógicos e relacionais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14659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6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07/abr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Estruturas condicionais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68745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7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14/abr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Exercícios de lógica e dinâmica em grupo (resolução de problemas)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7708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8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21/abr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Feriado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521106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9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28/abr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effectLst/>
                        </a:rPr>
                        <a:t>Avaliação G1</a:t>
                      </a:r>
                      <a:endParaRPr lang="pt-BR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645547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335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4BBD8-BAA6-E249-CFCD-9560CFB3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D922194-E587-E21A-6142-4483A41B51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7164C00-A161-CDB8-A6FC-552860AD1A96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Cronograma de desenvolvimento: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0CBD6582-8132-58DD-14AC-8A0DB4FE4CE3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0CBD6582-8132-58DD-14AC-8A0DB4FE4C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B0516DC-BC56-B082-BB83-6B9E1BD317B1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486596A-F08D-AA8D-BC04-3D92778AA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6995"/>
              </p:ext>
            </p:extLst>
          </p:nvPr>
        </p:nvGraphicFramePr>
        <p:xfrm>
          <a:off x="1093469" y="1916679"/>
          <a:ext cx="9840685" cy="4179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9101">
                  <a:extLst>
                    <a:ext uri="{9D8B030D-6E8A-4147-A177-3AD203B41FA5}">
                      <a16:colId xmlns:a16="http://schemas.microsoft.com/office/drawing/2014/main" val="971938316"/>
                    </a:ext>
                  </a:extLst>
                </a:gridCol>
                <a:gridCol w="1729872">
                  <a:extLst>
                    <a:ext uri="{9D8B030D-6E8A-4147-A177-3AD203B41FA5}">
                      <a16:colId xmlns:a16="http://schemas.microsoft.com/office/drawing/2014/main" val="1884366727"/>
                    </a:ext>
                  </a:extLst>
                </a:gridCol>
                <a:gridCol w="7441712">
                  <a:extLst>
                    <a:ext uri="{9D8B030D-6E8A-4147-A177-3AD203B41FA5}">
                      <a16:colId xmlns:a16="http://schemas.microsoft.com/office/drawing/2014/main" val="837339466"/>
                    </a:ext>
                  </a:extLst>
                </a:gridCol>
              </a:tblGrid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10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05/mai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Abstração, decomposição e reconhecimento de padrões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094322572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11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12/mai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Estruturas de repetição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997276702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12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19/mai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Exercícios de lógica com repetição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98488260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13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26/mai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 Introdução a vetores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8040890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14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02/jun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 Revisão vetores e introdução a matrizes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516655150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15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09/jun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Funções e procedimentos 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630637565"/>
                  </a:ext>
                </a:extLst>
              </a:tr>
              <a:tr h="685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16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16/jun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Exercícios utilizando funções e conteúdos anteriores (revisão) 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184101463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17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23/jun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Avaliação G2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218771007"/>
                  </a:ext>
                </a:extLst>
              </a:tr>
              <a:tr h="436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18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effectLst/>
                        </a:rPr>
                        <a:t>30/jun</a:t>
                      </a:r>
                      <a:endParaRPr lang="pt-BR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effectLst/>
                        </a:rPr>
                        <a:t>Exame</a:t>
                      </a:r>
                      <a:endParaRPr lang="pt-BR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852372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58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4A307-EAE3-C798-D548-483219B8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6EB48ED-7862-CED1-D6B7-1A334E54AF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6E5534C-C51A-D04B-95BC-C5EB95CDC008}"/>
              </a:ext>
            </a:extLst>
          </p:cNvPr>
          <p:cNvSpPr txBox="1"/>
          <p:nvPr/>
        </p:nvSpPr>
        <p:spPr>
          <a:xfrm>
            <a:off x="1175657" y="501135"/>
            <a:ext cx="82187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Disciplina – Pensamento Computacional</a:t>
            </a:r>
          </a:p>
          <a:p>
            <a:r>
              <a:rPr lang="pt-BR" sz="4000" b="1" cap="small" dirty="0"/>
              <a:t>Ações Metodológicas</a:t>
            </a:r>
            <a:endParaRPr lang="pt-BR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DF902CB-0CD3-61B3-2D60-C008C4A980DF}"/>
                  </a:ext>
                </a:extLst>
              </p14:cNvPr>
              <p14:cNvContentPartPr/>
              <p14:nvPr/>
            </p14:nvContentPartPr>
            <p14:xfrm>
              <a:off x="-1991863" y="1132080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DF902CB-0CD3-61B3-2D60-C008C4A980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97983" y="112596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40F58D5-B1B0-AE90-96B3-43B35C322937}"/>
              </a:ext>
            </a:extLst>
          </p:cNvPr>
          <p:cNvCxnSpPr/>
          <p:nvPr/>
        </p:nvCxnSpPr>
        <p:spPr>
          <a:xfrm>
            <a:off x="1344385" y="1785258"/>
            <a:ext cx="98406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4F6720D7-CA6D-A8D3-B838-E3DEA7B8D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21" y="2264154"/>
            <a:ext cx="10828958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01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2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121</TotalTime>
  <Words>1484</Words>
  <Application>Microsoft Office PowerPoint</Application>
  <PresentationFormat>Widescreen</PresentationFormat>
  <Paragraphs>196</Paragraphs>
  <Slides>20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Eloy Teixeira</dc:creator>
  <cp:lastModifiedBy>LEONAM HEMANN</cp:lastModifiedBy>
  <cp:revision>9</cp:revision>
  <dcterms:created xsi:type="dcterms:W3CDTF">2022-03-02T18:05:08Z</dcterms:created>
  <dcterms:modified xsi:type="dcterms:W3CDTF">2026-03-03T20:10:08Z</dcterms:modified>
</cp:coreProperties>
</file>